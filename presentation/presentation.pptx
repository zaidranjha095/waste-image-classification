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by saying your name, your roll number, and that this is your Deep Learning semester project. The title is waste image classification. Say that the network is MobileNetV2, fine-tuned on the public TrashNet dataset, and that the rest of the talk covers the data, the training setup, the test numbers, and where the weights live.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problem in plain language. Recycling depends on separating cardboard, paper, plastic, glass, and metal. The model takes one photograph and picks one of those classes, or trash when the object does not fit. Pause, then say clearly that this is a course demo with published weights, not a system that should run a sorting plant.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deliverables. First, TrashNet with a fixed split. Second, the MobileNetV2 checkpoint and the ONNX file made from it. Third, predict.py, so a test script can score one image. Fourth, the Vercel page, which shows the demo, the report, and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Credit Gary Thung and Mindy Yang. Say the resized set has 2527 photographs, with trash the smallest class at 137 images. Give the split: 1768 train, 379 validation, 380 test, seed 42. Mention the plain posterboard background, because that fact explains both the accuracy and the limitation you will come back 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across the six photos: cardboard, glass, metal, paper, plastic, and trash. Say these are held-out test images the trained model classified correctly, kept in the repository so the website has something to click. Mention that every photo is a single object on a light background.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MobileNetV2 and the ImageNet initialization. In one sentence, describe an inverted residual: expand, depthwise filter, project back down. Say the old 1,000-way layer was replaced by a 6-way layer, and the network has 2,231,558 parameters. Close with the input recipe: shorter side to 256, center crop 224, ImageNet normalization, logits 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training used NVIDIA GeForce RTX 5070 and Adam. Mention class weights, because trash would otherwise be ignored. Describe the two phases: classifier head first, then the later feature blocks. Say 17 epochs ran and the best validation accuracy was 88.39%. Stress that the test set did not choose the checkpoint.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headline slowly: test accuracy 88.68%, macro F1 88.83%. Explain that macro F1 averages the six classes, so a rare class still counts. Then say cardboard has the highest F1 at 94.02% on 60 test images, and plastic has the lowest at 85.35% on 73 images.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plots. The left panel is loss and the right panel is accuracy, for train and validation. Say the curve flattens, which is why early stopping kept the best validation epoch instead of the last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audience that rows are the true class and columns are the prediction. Then read this sentence: The largest confusions were 12 glass images predicted as plastic; 6 paper images predicted as metal; 3 cardboard images predicted as paper. Add that glass, plastic, and metal are the mix-ups you would expect from reflective or transparent objects.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slow down on if the evaluation is automated. Say the PyTorch file is weights/model.pth, the browser file is weights/model.onnx, and model.py rebuilds the architecture. Read the class order once: cardboard, glass, metal, paper, plastic, trash. Mention predict.py as the command that prints probabilities for a single image.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direct. The training photos use a clean background, so a picture of a real bin can fail. Trash has only 137 images, so that score moves around. End by saying the demo must not be used to judge hazardous waste.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dataset credit, then the GitHub, Vercel, YouTube, and LinkedIn links if they are already filled in. If a link is still a placeholder, say it will be on the submission form. Thank the audience and stop.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4.jpg"/><Relationship Id="rId7" Type="http://schemas.openxmlformats.org/officeDocument/2006/relationships/image" Target="../media/image5.jpg"/><Relationship Id="rId8"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D3A"/>
        </a:solidFill>
        <a:effectLst/>
      </p:bgPr>
    </p:bg>
    <p:spTree>
      <p:nvGrpSpPr>
        <p:cNvPr id="1" name=""/>
        <p:cNvGrpSpPr/>
        <p:nvPr/>
      </p:nvGrpSpPr>
      <p:grpSpPr/>
      <p:sp>
        <p:nvSpPr>
          <p:cNvPr id="2" name="TextBox 1"/>
          <p:cNvSpPr txBox="1"/>
          <p:nvPr/>
        </p:nvSpPr>
        <p:spPr>
          <a:xfrm>
            <a:off x="640080" y="1188720"/>
            <a:ext cx="10058400" cy="365760"/>
          </a:xfrm>
          <a:prstGeom prst="rect">
            <a:avLst/>
          </a:prstGeom>
          <a:noFill/>
        </p:spPr>
        <p:txBody>
          <a:bodyPr wrap="square">
            <a:spAutoFit/>
          </a:bodyPr>
          <a:lstStyle/>
          <a:p>
            <a:pPr algn="l"/>
            <a:r>
              <a:rPr sz="1600" b="1">
                <a:solidFill>
                  <a:srgbClr val="C47B2B"/>
                </a:solidFill>
                <a:latin typeface="Calibri"/>
              </a:rPr>
              <a:t>DEEP LEARNING</a:t>
            </a:r>
          </a:p>
        </p:txBody>
      </p:sp>
      <p:sp>
        <p:nvSpPr>
          <p:cNvPr id="3" name="TextBox 2"/>
          <p:cNvSpPr txBox="1"/>
          <p:nvPr/>
        </p:nvSpPr>
        <p:spPr>
          <a:xfrm>
            <a:off x="640080" y="1645920"/>
            <a:ext cx="10972800" cy="1188720"/>
          </a:xfrm>
          <a:prstGeom prst="rect">
            <a:avLst/>
          </a:prstGeom>
          <a:noFill/>
        </p:spPr>
        <p:txBody>
          <a:bodyPr wrap="square">
            <a:spAutoFit/>
          </a:bodyPr>
          <a:lstStyle/>
          <a:p>
            <a:pPr algn="l"/>
            <a:r>
              <a:rPr sz="4800" b="1">
                <a:solidFill>
                  <a:srgbClr val="FFFDF8"/>
                </a:solidFill>
                <a:latin typeface="Calibri"/>
              </a:rPr>
              <a:t>Waste Image Classification</a:t>
            </a:r>
          </a:p>
        </p:txBody>
      </p:sp>
      <p:sp>
        <p:nvSpPr>
          <p:cNvPr id="4" name="TextBox 3"/>
          <p:cNvSpPr txBox="1"/>
          <p:nvPr/>
        </p:nvSpPr>
        <p:spPr>
          <a:xfrm>
            <a:off x="640080" y="3017520"/>
            <a:ext cx="10058400" cy="548640"/>
          </a:xfrm>
          <a:prstGeom prst="rect">
            <a:avLst/>
          </a:prstGeom>
          <a:noFill/>
        </p:spPr>
        <p:txBody>
          <a:bodyPr wrap="square">
            <a:spAutoFit/>
          </a:bodyPr>
          <a:lstStyle/>
          <a:p>
            <a:pPr algn="l"/>
            <a:r>
              <a:rPr sz="2400" b="0">
                <a:solidFill>
                  <a:srgbClr val="F3EFE6"/>
                </a:solidFill>
                <a:latin typeface="Calibri"/>
              </a:rPr>
              <a:t>MobileNetV2 transfer learning on TrashNet</a:t>
            </a:r>
          </a:p>
        </p:txBody>
      </p:sp>
      <p:sp>
        <p:nvSpPr>
          <p:cNvPr id="5" name="TextBox 4"/>
          <p:cNvSpPr txBox="1"/>
          <p:nvPr/>
        </p:nvSpPr>
        <p:spPr>
          <a:xfrm>
            <a:off x="640080" y="5120640"/>
            <a:ext cx="10058400" cy="457200"/>
          </a:xfrm>
          <a:prstGeom prst="rect">
            <a:avLst/>
          </a:prstGeom>
          <a:noFill/>
        </p:spPr>
        <p:txBody>
          <a:bodyPr wrap="square">
            <a:spAutoFit/>
          </a:bodyPr>
          <a:lstStyle/>
          <a:p>
            <a:pPr algn="l"/>
            <a:r>
              <a:rPr sz="2000" b="0">
                <a:solidFill>
                  <a:srgbClr val="FFFDF8"/>
                </a:solidFill>
                <a:latin typeface="Calibri"/>
              </a:rPr>
              <a:t>Student Name  ·  Roll Number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640080"/>
          </a:xfrm>
          <a:prstGeom prst="rect">
            <a:avLst/>
          </a:prstGeom>
          <a:noFill/>
        </p:spPr>
        <p:txBody>
          <a:bodyPr wrap="square">
            <a:spAutoFit/>
          </a:bodyPr>
          <a:lstStyle/>
          <a:p>
            <a:pPr algn="l"/>
            <a:r>
              <a:rPr sz="3200" b="1">
                <a:solidFill>
                  <a:srgbClr val="1F4D3A"/>
                </a:solidFill>
                <a:latin typeface="Calibri"/>
              </a:rPr>
              <a:t>The decision this model makes</a:t>
            </a:r>
          </a:p>
        </p:txBody>
      </p:sp>
      <p:sp>
        <p:nvSpPr>
          <p:cNvPr id="4" name="TextBox 3"/>
          <p:cNvSpPr txBox="1"/>
          <p:nvPr/>
        </p:nvSpPr>
        <p:spPr>
          <a:xfrm>
            <a:off x="548640" y="1371600"/>
            <a:ext cx="10972800" cy="4572000"/>
          </a:xfrm>
          <a:prstGeom prst="rect">
            <a:avLst/>
          </a:prstGeom>
          <a:noFill/>
        </p:spPr>
        <p:txBody>
          <a:bodyPr wrap="square">
            <a:spAutoFit/>
          </a:bodyPr>
          <a:lstStyle/>
          <a:p>
            <a:pPr algn="l">
              <a:spcAft>
                <a:spcPts val="1000"/>
              </a:spcAft>
            </a:pPr>
            <a:r>
              <a:rPr sz="2200" b="0">
                <a:solidFill>
                  <a:srgbClr val="1A2421"/>
                </a:solidFill>
                <a:latin typeface="Calibri"/>
              </a:rPr>
              <a:t>•  Recycling works when cardboard, paper, plastic, glass, and metal are separated.</a:t>
            </a:r>
          </a:p>
          <a:p>
            <a:pPr algn="l">
              <a:spcAft>
                <a:spcPts val="1000"/>
              </a:spcAft>
            </a:pPr>
            <a:r>
              <a:rPr sz="2200" b="0">
                <a:solidFill>
                  <a:srgbClr val="1A2421"/>
                </a:solidFill>
                <a:latin typeface="Calibri"/>
              </a:rPr>
              <a:t>•  The model looks at one photograph and chooses one of six classes.</a:t>
            </a:r>
          </a:p>
          <a:p>
            <a:pPr algn="l">
              <a:spcAft>
                <a:spcPts val="1000"/>
              </a:spcAft>
            </a:pPr>
            <a:r>
              <a:rPr sz="2200" b="0">
                <a:solidFill>
                  <a:srgbClr val="1A2421"/>
                </a:solidFill>
                <a:latin typeface="Calibri"/>
              </a:rPr>
              <a:t>•  The sixth class, trash, is residual material that does not fit the other five.</a:t>
            </a:r>
          </a:p>
          <a:p>
            <a:pPr algn="l">
              <a:spcAft>
                <a:spcPts val="1000"/>
              </a:spcAft>
            </a:pPr>
            <a:r>
              <a:rPr sz="2200" b="0">
                <a:solidFill>
                  <a:srgbClr val="1A2421"/>
                </a:solidFill>
                <a:latin typeface="Calibri"/>
              </a:rPr>
              <a:t>•  The result is a semester demo with downloadable weights, not a plant controller.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640080"/>
          </a:xfrm>
          <a:prstGeom prst="rect">
            <a:avLst/>
          </a:prstGeom>
          <a:noFill/>
        </p:spPr>
        <p:txBody>
          <a:bodyPr wrap="square">
            <a:spAutoFit/>
          </a:bodyPr>
          <a:lstStyle/>
          <a:p>
            <a:pPr algn="l"/>
            <a:r>
              <a:rPr sz="3200" b="1">
                <a:solidFill>
                  <a:srgbClr val="1F4D3A"/>
                </a:solidFill>
                <a:latin typeface="Calibri"/>
              </a:rPr>
              <a:t>What the project delivers</a:t>
            </a:r>
          </a:p>
        </p:txBody>
      </p:sp>
      <p:sp>
        <p:nvSpPr>
          <p:cNvPr id="4" name="TextBox 3"/>
          <p:cNvSpPr txBox="1"/>
          <p:nvPr/>
        </p:nvSpPr>
        <p:spPr>
          <a:xfrm>
            <a:off x="548640" y="1371600"/>
            <a:ext cx="10972800" cy="4572000"/>
          </a:xfrm>
          <a:prstGeom prst="rect">
            <a:avLst/>
          </a:prstGeom>
          <a:noFill/>
        </p:spPr>
        <p:txBody>
          <a:bodyPr wrap="square">
            <a:spAutoFit/>
          </a:bodyPr>
          <a:lstStyle/>
          <a:p>
            <a:pPr algn="l">
              <a:spcAft>
                <a:spcPts val="1000"/>
              </a:spcAft>
            </a:pPr>
            <a:r>
              <a:rPr sz="2200" b="0">
                <a:solidFill>
                  <a:srgbClr val="1A2421"/>
                </a:solidFill>
                <a:latin typeface="Calibri"/>
              </a:rPr>
              <a:t>•  A public secondary dataset, TrashNet, with a fixed stratified split.</a:t>
            </a:r>
          </a:p>
          <a:p>
            <a:pPr algn="l">
              <a:spcAft>
                <a:spcPts val="1000"/>
              </a:spcAft>
            </a:pPr>
            <a:r>
              <a:rPr sz="2200" b="0">
                <a:solidFill>
                  <a:srgbClr val="1A2421"/>
                </a:solidFill>
                <a:latin typeface="Calibri"/>
              </a:rPr>
              <a:t>•  A fine-tuned MobileNetV2 checkpoint and a matching ONNX file.</a:t>
            </a:r>
          </a:p>
          <a:p>
            <a:pPr algn="l">
              <a:spcAft>
                <a:spcPts val="1000"/>
              </a:spcAft>
            </a:pPr>
            <a:r>
              <a:rPr sz="2200" b="0">
                <a:solidFill>
                  <a:srgbClr val="1A2421"/>
                </a:solidFill>
                <a:latin typeface="Calibri"/>
              </a:rPr>
              <a:t>•  predict.py, which prints class probabilities for one image.</a:t>
            </a:r>
          </a:p>
          <a:p>
            <a:pPr algn="l">
              <a:spcAft>
                <a:spcPts val="1000"/>
              </a:spcAft>
            </a:pPr>
            <a:r>
              <a:rPr sz="2200" b="0">
                <a:solidFill>
                  <a:srgbClr val="1A2421"/>
                </a:solidFill>
                <a:latin typeface="Calibri"/>
              </a:rPr>
              <a:t>•  A Vercel page with the demo, this deck, and the written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640080"/>
          </a:xfrm>
          <a:prstGeom prst="rect">
            <a:avLst/>
          </a:prstGeom>
          <a:noFill/>
        </p:spPr>
        <p:txBody>
          <a:bodyPr wrap="square">
            <a:spAutoFit/>
          </a:bodyPr>
          <a:lstStyle/>
          <a:p>
            <a:pPr algn="l"/>
            <a:r>
              <a:rPr sz="3200" b="1">
                <a:solidFill>
                  <a:srgbClr val="1F4D3A"/>
                </a:solidFill>
                <a:latin typeface="Calibri"/>
              </a:rPr>
              <a:t>TrashNet</a:t>
            </a:r>
          </a:p>
        </p:txBody>
      </p:sp>
      <p:sp>
        <p:nvSpPr>
          <p:cNvPr id="4" name="TextBox 3"/>
          <p:cNvSpPr txBox="1"/>
          <p:nvPr/>
        </p:nvSpPr>
        <p:spPr>
          <a:xfrm>
            <a:off x="548640" y="1280160"/>
            <a:ext cx="10972800" cy="4937760"/>
          </a:xfrm>
          <a:prstGeom prst="rect">
            <a:avLst/>
          </a:prstGeom>
          <a:noFill/>
        </p:spPr>
        <p:txBody>
          <a:bodyPr wrap="square">
            <a:spAutoFit/>
          </a:bodyPr>
          <a:lstStyle/>
          <a:p>
            <a:pPr algn="l">
              <a:spcAft>
                <a:spcPts val="1000"/>
              </a:spcAft>
            </a:pPr>
            <a:r>
              <a:rPr sz="2000" b="0">
                <a:solidFill>
                  <a:srgbClr val="1A2421"/>
                </a:solidFill>
                <a:latin typeface="Calibri"/>
              </a:rPr>
              <a:t>•  Gary Thung and Mindy Yang, Stanford CS 229. Resized JPEGs, 512×384.</a:t>
            </a:r>
          </a:p>
          <a:p>
            <a:pPr algn="l">
              <a:spcAft>
                <a:spcPts val="1000"/>
              </a:spcAft>
            </a:pPr>
            <a:r>
              <a:rPr sz="2000" b="0">
                <a:solidFill>
                  <a:srgbClr val="1A2421"/>
                </a:solidFill>
                <a:latin typeface="Calibri"/>
              </a:rPr>
              <a:t>•  2527 images: cardboard 403, glass 501, metal 410, paper 594, plastic 482, trash 137.</a:t>
            </a:r>
          </a:p>
          <a:p>
            <a:pPr algn="l">
              <a:spcAft>
                <a:spcPts val="1000"/>
              </a:spcAft>
            </a:pPr>
            <a:r>
              <a:rPr sz="2000" b="0">
                <a:solidFill>
                  <a:srgbClr val="1A2421"/>
                </a:solidFill>
                <a:latin typeface="Calibri"/>
              </a:rPr>
              <a:t>•  Stratified split, seed 42: 1768 train, 379 validation, 380 test.</a:t>
            </a:r>
          </a:p>
          <a:p>
            <a:pPr algn="l">
              <a:spcAft>
                <a:spcPts val="1000"/>
              </a:spcAft>
            </a:pPr>
            <a:r>
              <a:rPr sz="2000" b="0">
                <a:solidFill>
                  <a:srgbClr val="1A2421"/>
                </a:solidFill>
                <a:latin typeface="Calibri"/>
              </a:rPr>
              <a:t>•  Objects sit on a plain posterboard. That is both why the task is learnable and why wild photos are harder.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640080"/>
          </a:xfrm>
          <a:prstGeom prst="rect">
            <a:avLst/>
          </a:prstGeom>
          <a:noFill/>
        </p:spPr>
        <p:txBody>
          <a:bodyPr wrap="square">
            <a:spAutoFit/>
          </a:bodyPr>
          <a:lstStyle/>
          <a:p>
            <a:pPr algn="l"/>
            <a:r>
              <a:rPr sz="3200" b="1">
                <a:solidFill>
                  <a:srgbClr val="1F4D3A"/>
                </a:solidFill>
                <a:latin typeface="Calibri"/>
              </a:rPr>
              <a:t>One test image from each class</a:t>
            </a:r>
          </a:p>
        </p:txBody>
      </p:sp>
      <p:pic>
        <p:nvPicPr>
          <p:cNvPr id="4" name="Picture 3" descr="cardboard.jpg"/>
          <p:cNvPicPr>
            <a:picLocks noChangeAspect="1"/>
          </p:cNvPicPr>
          <p:nvPr/>
        </p:nvPicPr>
        <p:blipFill>
          <a:blip r:embed="rId3"/>
          <a:stretch>
            <a:fillRect/>
          </a:stretch>
        </p:blipFill>
        <p:spPr>
          <a:xfrm>
            <a:off x="365760" y="1463040"/>
            <a:ext cx="1828800" cy="1371600"/>
          </a:xfrm>
          <a:prstGeom prst="rect">
            <a:avLst/>
          </a:prstGeom>
        </p:spPr>
      </p:pic>
      <p:sp>
        <p:nvSpPr>
          <p:cNvPr id="5" name="TextBox 4"/>
          <p:cNvSpPr txBox="1"/>
          <p:nvPr/>
        </p:nvSpPr>
        <p:spPr>
          <a:xfrm>
            <a:off x="365760" y="4114800"/>
            <a:ext cx="1828800" cy="365760"/>
          </a:xfrm>
          <a:prstGeom prst="rect">
            <a:avLst/>
          </a:prstGeom>
          <a:noFill/>
        </p:spPr>
        <p:txBody>
          <a:bodyPr wrap="square">
            <a:spAutoFit/>
          </a:bodyPr>
          <a:lstStyle/>
          <a:p>
            <a:pPr algn="ctr"/>
            <a:r>
              <a:rPr sz="1600" b="1">
                <a:solidFill>
                  <a:srgbClr val="1F4D3A"/>
                </a:solidFill>
                <a:latin typeface="Calibri"/>
              </a:rPr>
              <a:t>cardboard</a:t>
            </a:r>
          </a:p>
        </p:txBody>
      </p:sp>
      <p:pic>
        <p:nvPicPr>
          <p:cNvPr id="6" name="Picture 5" descr="glass.jpg"/>
          <p:cNvPicPr>
            <a:picLocks noChangeAspect="1"/>
          </p:cNvPicPr>
          <p:nvPr/>
        </p:nvPicPr>
        <p:blipFill>
          <a:blip r:embed="rId4"/>
          <a:stretch>
            <a:fillRect/>
          </a:stretch>
        </p:blipFill>
        <p:spPr>
          <a:xfrm>
            <a:off x="2331720" y="1463040"/>
            <a:ext cx="1828800" cy="1371600"/>
          </a:xfrm>
          <a:prstGeom prst="rect">
            <a:avLst/>
          </a:prstGeom>
        </p:spPr>
      </p:pic>
      <p:sp>
        <p:nvSpPr>
          <p:cNvPr id="7" name="TextBox 6"/>
          <p:cNvSpPr txBox="1"/>
          <p:nvPr/>
        </p:nvSpPr>
        <p:spPr>
          <a:xfrm>
            <a:off x="2331720" y="4114800"/>
            <a:ext cx="1828800" cy="365760"/>
          </a:xfrm>
          <a:prstGeom prst="rect">
            <a:avLst/>
          </a:prstGeom>
          <a:noFill/>
        </p:spPr>
        <p:txBody>
          <a:bodyPr wrap="square">
            <a:spAutoFit/>
          </a:bodyPr>
          <a:lstStyle/>
          <a:p>
            <a:pPr algn="ctr"/>
            <a:r>
              <a:rPr sz="1600" b="1">
                <a:solidFill>
                  <a:srgbClr val="1F4D3A"/>
                </a:solidFill>
                <a:latin typeface="Calibri"/>
              </a:rPr>
              <a:t>glass</a:t>
            </a:r>
          </a:p>
        </p:txBody>
      </p:sp>
      <p:pic>
        <p:nvPicPr>
          <p:cNvPr id="8" name="Picture 7" descr="metal.jpg"/>
          <p:cNvPicPr>
            <a:picLocks noChangeAspect="1"/>
          </p:cNvPicPr>
          <p:nvPr/>
        </p:nvPicPr>
        <p:blipFill>
          <a:blip r:embed="rId5"/>
          <a:stretch>
            <a:fillRect/>
          </a:stretch>
        </p:blipFill>
        <p:spPr>
          <a:xfrm>
            <a:off x="4297680" y="1463040"/>
            <a:ext cx="1828800" cy="1371600"/>
          </a:xfrm>
          <a:prstGeom prst="rect">
            <a:avLst/>
          </a:prstGeom>
        </p:spPr>
      </p:pic>
      <p:sp>
        <p:nvSpPr>
          <p:cNvPr id="9" name="TextBox 8"/>
          <p:cNvSpPr txBox="1"/>
          <p:nvPr/>
        </p:nvSpPr>
        <p:spPr>
          <a:xfrm>
            <a:off x="4297680" y="4114800"/>
            <a:ext cx="1828800" cy="365760"/>
          </a:xfrm>
          <a:prstGeom prst="rect">
            <a:avLst/>
          </a:prstGeom>
          <a:noFill/>
        </p:spPr>
        <p:txBody>
          <a:bodyPr wrap="square">
            <a:spAutoFit/>
          </a:bodyPr>
          <a:lstStyle/>
          <a:p>
            <a:pPr algn="ctr"/>
            <a:r>
              <a:rPr sz="1600" b="1">
                <a:solidFill>
                  <a:srgbClr val="1F4D3A"/>
                </a:solidFill>
                <a:latin typeface="Calibri"/>
              </a:rPr>
              <a:t>metal</a:t>
            </a:r>
          </a:p>
        </p:txBody>
      </p:sp>
      <p:pic>
        <p:nvPicPr>
          <p:cNvPr id="10" name="Picture 9" descr="paper.jpg"/>
          <p:cNvPicPr>
            <a:picLocks noChangeAspect="1"/>
          </p:cNvPicPr>
          <p:nvPr/>
        </p:nvPicPr>
        <p:blipFill>
          <a:blip r:embed="rId6"/>
          <a:stretch>
            <a:fillRect/>
          </a:stretch>
        </p:blipFill>
        <p:spPr>
          <a:xfrm>
            <a:off x="6263640" y="1463040"/>
            <a:ext cx="1828800" cy="1371600"/>
          </a:xfrm>
          <a:prstGeom prst="rect">
            <a:avLst/>
          </a:prstGeom>
        </p:spPr>
      </p:pic>
      <p:sp>
        <p:nvSpPr>
          <p:cNvPr id="11" name="TextBox 10"/>
          <p:cNvSpPr txBox="1"/>
          <p:nvPr/>
        </p:nvSpPr>
        <p:spPr>
          <a:xfrm>
            <a:off x="6263640" y="4114800"/>
            <a:ext cx="1828800" cy="365760"/>
          </a:xfrm>
          <a:prstGeom prst="rect">
            <a:avLst/>
          </a:prstGeom>
          <a:noFill/>
        </p:spPr>
        <p:txBody>
          <a:bodyPr wrap="square">
            <a:spAutoFit/>
          </a:bodyPr>
          <a:lstStyle/>
          <a:p>
            <a:pPr algn="ctr"/>
            <a:r>
              <a:rPr sz="1600" b="1">
                <a:solidFill>
                  <a:srgbClr val="1F4D3A"/>
                </a:solidFill>
                <a:latin typeface="Calibri"/>
              </a:rPr>
              <a:t>paper</a:t>
            </a:r>
          </a:p>
        </p:txBody>
      </p:sp>
      <p:pic>
        <p:nvPicPr>
          <p:cNvPr id="12" name="Picture 11" descr="plastic.jpg"/>
          <p:cNvPicPr>
            <a:picLocks noChangeAspect="1"/>
          </p:cNvPicPr>
          <p:nvPr/>
        </p:nvPicPr>
        <p:blipFill>
          <a:blip r:embed="rId7"/>
          <a:stretch>
            <a:fillRect/>
          </a:stretch>
        </p:blipFill>
        <p:spPr>
          <a:xfrm>
            <a:off x="8229600" y="1463040"/>
            <a:ext cx="1828800" cy="1371600"/>
          </a:xfrm>
          <a:prstGeom prst="rect">
            <a:avLst/>
          </a:prstGeom>
        </p:spPr>
      </p:pic>
      <p:sp>
        <p:nvSpPr>
          <p:cNvPr id="13" name="TextBox 12"/>
          <p:cNvSpPr txBox="1"/>
          <p:nvPr/>
        </p:nvSpPr>
        <p:spPr>
          <a:xfrm>
            <a:off x="8229600" y="4114800"/>
            <a:ext cx="1828800" cy="365760"/>
          </a:xfrm>
          <a:prstGeom prst="rect">
            <a:avLst/>
          </a:prstGeom>
          <a:noFill/>
        </p:spPr>
        <p:txBody>
          <a:bodyPr wrap="square">
            <a:spAutoFit/>
          </a:bodyPr>
          <a:lstStyle/>
          <a:p>
            <a:pPr algn="ctr"/>
            <a:r>
              <a:rPr sz="1600" b="1">
                <a:solidFill>
                  <a:srgbClr val="1F4D3A"/>
                </a:solidFill>
                <a:latin typeface="Calibri"/>
              </a:rPr>
              <a:t>plastic</a:t>
            </a:r>
          </a:p>
        </p:txBody>
      </p:sp>
      <p:pic>
        <p:nvPicPr>
          <p:cNvPr id="14" name="Picture 13" descr="trash.jpg"/>
          <p:cNvPicPr>
            <a:picLocks noChangeAspect="1"/>
          </p:cNvPicPr>
          <p:nvPr/>
        </p:nvPicPr>
        <p:blipFill>
          <a:blip r:embed="rId8"/>
          <a:stretch>
            <a:fillRect/>
          </a:stretch>
        </p:blipFill>
        <p:spPr>
          <a:xfrm>
            <a:off x="10195560" y="1463040"/>
            <a:ext cx="1828800" cy="1371600"/>
          </a:xfrm>
          <a:prstGeom prst="rect">
            <a:avLst/>
          </a:prstGeom>
        </p:spPr>
      </p:pic>
      <p:sp>
        <p:nvSpPr>
          <p:cNvPr id="15" name="TextBox 14"/>
          <p:cNvSpPr txBox="1"/>
          <p:nvPr/>
        </p:nvSpPr>
        <p:spPr>
          <a:xfrm>
            <a:off x="10195560" y="4114800"/>
            <a:ext cx="1828800" cy="365760"/>
          </a:xfrm>
          <a:prstGeom prst="rect">
            <a:avLst/>
          </a:prstGeom>
          <a:noFill/>
        </p:spPr>
        <p:txBody>
          <a:bodyPr wrap="square">
            <a:spAutoFit/>
          </a:bodyPr>
          <a:lstStyle/>
          <a:p>
            <a:pPr algn="ctr"/>
            <a:r>
              <a:rPr sz="1600" b="1">
                <a:solidFill>
                  <a:srgbClr val="1F4D3A"/>
                </a:solidFill>
                <a:latin typeface="Calibri"/>
              </a:rPr>
              <a:t>trash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640080"/>
          </a:xfrm>
          <a:prstGeom prst="rect">
            <a:avLst/>
          </a:prstGeom>
          <a:noFill/>
        </p:spPr>
        <p:txBody>
          <a:bodyPr wrap="square">
            <a:spAutoFit/>
          </a:bodyPr>
          <a:lstStyle/>
          <a:p>
            <a:pPr algn="l"/>
            <a:r>
              <a:rPr sz="3200" b="1">
                <a:solidFill>
                  <a:srgbClr val="1F4D3A"/>
                </a:solidFill>
                <a:latin typeface="Calibri"/>
              </a:rPr>
              <a:t>MobileNetV2 with a six-way head</a:t>
            </a:r>
          </a:p>
        </p:txBody>
      </p:sp>
      <p:sp>
        <p:nvSpPr>
          <p:cNvPr id="4" name="TextBox 3"/>
          <p:cNvSpPr txBox="1"/>
          <p:nvPr/>
        </p:nvSpPr>
        <p:spPr>
          <a:xfrm>
            <a:off x="548640" y="1371600"/>
            <a:ext cx="10972800" cy="4572000"/>
          </a:xfrm>
          <a:prstGeom prst="rect">
            <a:avLst/>
          </a:prstGeom>
          <a:noFill/>
        </p:spPr>
        <p:txBody>
          <a:bodyPr wrap="square">
            <a:spAutoFit/>
          </a:bodyPr>
          <a:lstStyle/>
          <a:p>
            <a:pPr algn="l">
              <a:spcAft>
                <a:spcPts val="1000"/>
              </a:spcAft>
            </a:pPr>
            <a:r>
              <a:rPr sz="2200" b="0">
                <a:solidFill>
                  <a:srgbClr val="1A2421"/>
                </a:solidFill>
                <a:latin typeface="Calibri"/>
              </a:rPr>
              <a:t>•  ImageNet-1K initialization, then a new linear layer with 6 outputs.</a:t>
            </a:r>
          </a:p>
          <a:p>
            <a:pPr algn="l">
              <a:spcAft>
                <a:spcPts val="1000"/>
              </a:spcAft>
            </a:pPr>
            <a:r>
              <a:rPr sz="2200" b="0">
                <a:solidFill>
                  <a:srgbClr val="1A2421"/>
                </a:solidFill>
                <a:latin typeface="Calibri"/>
              </a:rPr>
              <a:t>•  Inverted residual blocks: expand, depthwise 3×3, linear project.</a:t>
            </a:r>
          </a:p>
          <a:p>
            <a:pPr algn="l">
              <a:spcAft>
                <a:spcPts val="1000"/>
              </a:spcAft>
            </a:pPr>
            <a:r>
              <a:rPr sz="2200" b="0">
                <a:solidFill>
                  <a:srgbClr val="1A2421"/>
                </a:solidFill>
                <a:latin typeface="Calibri"/>
              </a:rPr>
              <a:t>•  2,231,558 parameters. Small enough for Git and for the browser.</a:t>
            </a:r>
          </a:p>
          <a:p>
            <a:pPr algn="l">
              <a:spcAft>
                <a:spcPts val="1000"/>
              </a:spcAft>
            </a:pPr>
            <a:r>
              <a:rPr sz="2200" b="0">
                <a:solidFill>
                  <a:srgbClr val="1A2421"/>
                </a:solidFill>
                <a:latin typeface="Calibri"/>
              </a:rPr>
              <a:t>•  Input 224×224 after a shorter-side resize to 256 and a center crop. Output is logits.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640080"/>
          </a:xfrm>
          <a:prstGeom prst="rect">
            <a:avLst/>
          </a:prstGeom>
          <a:noFill/>
        </p:spPr>
        <p:txBody>
          <a:bodyPr wrap="square">
            <a:spAutoFit/>
          </a:bodyPr>
          <a:lstStyle/>
          <a:p>
            <a:pPr algn="l"/>
            <a:r>
              <a:rPr sz="3200" b="1">
                <a:solidFill>
                  <a:srgbClr val="1F4D3A"/>
                </a:solidFill>
                <a:latin typeface="Calibri"/>
              </a:rPr>
              <a:t>Two-phase fine-tuning</a:t>
            </a:r>
          </a:p>
        </p:txBody>
      </p:sp>
      <p:sp>
        <p:nvSpPr>
          <p:cNvPr id="4" name="TextBox 3"/>
          <p:cNvSpPr txBox="1"/>
          <p:nvPr/>
        </p:nvSpPr>
        <p:spPr>
          <a:xfrm>
            <a:off x="548640" y="1371600"/>
            <a:ext cx="10972800" cy="4572000"/>
          </a:xfrm>
          <a:prstGeom prst="rect">
            <a:avLst/>
          </a:prstGeom>
          <a:noFill/>
        </p:spPr>
        <p:txBody>
          <a:bodyPr wrap="square">
            <a:spAutoFit/>
          </a:bodyPr>
          <a:lstStyle/>
          <a:p>
            <a:pPr algn="l">
              <a:spcAft>
                <a:spcPts val="1000"/>
              </a:spcAft>
            </a:pPr>
            <a:r>
              <a:rPr sz="2200" b="0">
                <a:solidFill>
                  <a:srgbClr val="1A2421"/>
                </a:solidFill>
                <a:latin typeface="Calibri"/>
              </a:rPr>
              <a:t>•  Device: NVIDIA GeForce RTX 5070. Batch size 32. Adam, weight decay 0.0001.</a:t>
            </a:r>
          </a:p>
          <a:p>
            <a:pPr algn="l">
              <a:spcAft>
                <a:spcPts val="1000"/>
              </a:spcAft>
            </a:pPr>
            <a:r>
              <a:rPr sz="2200" b="0">
                <a:solidFill>
                  <a:srgbClr val="1A2421"/>
                </a:solidFill>
                <a:latin typeface="Calibri"/>
              </a:rPr>
              <a:t>•  Loss: class-weighted cross-entropy. Trash receives the largest weight.</a:t>
            </a:r>
          </a:p>
          <a:p>
            <a:pPr algn="l">
              <a:spcAft>
                <a:spcPts val="1000"/>
              </a:spcAft>
            </a:pPr>
            <a:r>
              <a:rPr sz="2200" b="0">
                <a:solidFill>
                  <a:srgbClr val="1A2421"/>
                </a:solidFill>
                <a:latin typeface="Calibri"/>
              </a:rPr>
              <a:t>•  Head only, then feature blocks from index 14. 17 epochs ran.</a:t>
            </a:r>
          </a:p>
          <a:p>
            <a:pPr algn="l">
              <a:spcAft>
                <a:spcPts val="1000"/>
              </a:spcAft>
            </a:pPr>
            <a:r>
              <a:rPr sz="2200" b="0">
                <a:solidFill>
                  <a:srgbClr val="1A2421"/>
                </a:solidFill>
                <a:latin typeface="Calibri"/>
              </a:rPr>
              <a:t>•  Best validation accuracy 88.39%. Test labels were not used to pick the epoch.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640080"/>
          </a:xfrm>
          <a:prstGeom prst="rect">
            <a:avLst/>
          </a:prstGeom>
          <a:noFill/>
        </p:spPr>
        <p:txBody>
          <a:bodyPr wrap="square">
            <a:spAutoFit/>
          </a:bodyPr>
          <a:lstStyle/>
          <a:p>
            <a:pPr algn="l"/>
            <a:r>
              <a:rPr sz="3200" b="1">
                <a:solidFill>
                  <a:srgbClr val="1F4D3A"/>
                </a:solidFill>
                <a:latin typeface="Calibri"/>
              </a:rPr>
              <a:t>Held-out test results</a:t>
            </a:r>
          </a:p>
        </p:txBody>
      </p:sp>
      <p:sp>
        <p:nvSpPr>
          <p:cNvPr id="4" name="TextBox 3"/>
          <p:cNvSpPr txBox="1"/>
          <p:nvPr/>
        </p:nvSpPr>
        <p:spPr>
          <a:xfrm>
            <a:off x="548640" y="1143000"/>
            <a:ext cx="10972800" cy="548640"/>
          </a:xfrm>
          <a:prstGeom prst="rect">
            <a:avLst/>
          </a:prstGeom>
          <a:noFill/>
        </p:spPr>
        <p:txBody>
          <a:bodyPr wrap="square">
            <a:spAutoFit/>
          </a:bodyPr>
          <a:lstStyle/>
          <a:p>
            <a:pPr algn="l"/>
            <a:r>
              <a:rPr sz="2800" b="1">
                <a:solidFill>
                  <a:srgbClr val="1F4D3A"/>
                </a:solidFill>
                <a:latin typeface="Calibri"/>
              </a:rPr>
              <a:t>88.68% accuracy     88.83% macro F1</a:t>
            </a:r>
          </a:p>
        </p:txBody>
      </p:sp>
      <p:graphicFrame>
        <p:nvGraphicFramePr>
          <p:cNvPr id="5" name="Table 4"/>
          <p:cNvGraphicFramePr>
            <a:graphicFrameLocks noGrp="1"/>
          </p:cNvGraphicFramePr>
          <p:nvPr/>
        </p:nvGraphicFramePr>
        <p:xfrm>
          <a:off x="548640" y="1965960"/>
          <a:ext cx="10972800" cy="420624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600891">
                <a:tc>
                  <a:txBody>
                    <a:bodyPr wrap="square"/>
                    <a:lstStyle/>
                    <a:p>
                      <a:r>
                        <a:rPr sz="1400" b="1">
                          <a:solidFill>
                            <a:srgbClr val="FFFDF8"/>
                          </a:solidFill>
                          <a:latin typeface="Calibri"/>
                        </a:rPr>
                        <a:t>Class</a:t>
                      </a:r>
                    </a:p>
                  </a:txBody>
                  <a:tcPr>
                    <a:solidFill>
                      <a:srgbClr val="1F4D3A"/>
                    </a:solidFill>
                  </a:tcPr>
                </a:tc>
                <a:tc>
                  <a:txBody>
                    <a:bodyPr wrap="square"/>
                    <a:lstStyle/>
                    <a:p>
                      <a:r>
                        <a:rPr sz="1400" b="1">
                          <a:solidFill>
                            <a:srgbClr val="FFFDF8"/>
                          </a:solidFill>
                          <a:latin typeface="Calibri"/>
                        </a:rPr>
                        <a:t>Precision</a:t>
                      </a:r>
                    </a:p>
                  </a:txBody>
                  <a:tcPr>
                    <a:solidFill>
                      <a:srgbClr val="1F4D3A"/>
                    </a:solidFill>
                  </a:tcPr>
                </a:tc>
                <a:tc>
                  <a:txBody>
                    <a:bodyPr wrap="square"/>
                    <a:lstStyle/>
                    <a:p>
                      <a:r>
                        <a:rPr sz="1400" b="1">
                          <a:solidFill>
                            <a:srgbClr val="FFFDF8"/>
                          </a:solidFill>
                          <a:latin typeface="Calibri"/>
                        </a:rPr>
                        <a:t>Recall</a:t>
                      </a:r>
                    </a:p>
                  </a:txBody>
                  <a:tcPr>
                    <a:solidFill>
                      <a:srgbClr val="1F4D3A"/>
                    </a:solidFill>
                  </a:tcPr>
                </a:tc>
                <a:tc>
                  <a:txBody>
                    <a:bodyPr wrap="square"/>
                    <a:lstStyle/>
                    <a:p>
                      <a:r>
                        <a:rPr sz="1400" b="1">
                          <a:solidFill>
                            <a:srgbClr val="FFFDF8"/>
                          </a:solidFill>
                          <a:latin typeface="Calibri"/>
                        </a:rPr>
                        <a:t>F1</a:t>
                      </a:r>
                    </a:p>
                  </a:txBody>
                  <a:tcPr>
                    <a:solidFill>
                      <a:srgbClr val="1F4D3A"/>
                    </a:solidFill>
                  </a:tcPr>
                </a:tc>
                <a:tc>
                  <a:txBody>
                    <a:bodyPr wrap="square"/>
                    <a:lstStyle/>
                    <a:p>
                      <a:r>
                        <a:rPr sz="1400" b="1">
                          <a:solidFill>
                            <a:srgbClr val="FFFDF8"/>
                          </a:solidFill>
                          <a:latin typeface="Calibri"/>
                        </a:rPr>
                        <a:t>Support</a:t>
                      </a:r>
                    </a:p>
                  </a:txBody>
                  <a:tcPr>
                    <a:solidFill>
                      <a:srgbClr val="1F4D3A"/>
                    </a:solidFill>
                  </a:tcPr>
                </a:tc>
              </a:tr>
              <a:tr h="600891">
                <a:tc>
                  <a:txBody>
                    <a:bodyPr wrap="square"/>
                    <a:lstStyle/>
                    <a:p>
                      <a:r>
                        <a:rPr sz="1500" b="1">
                          <a:solidFill>
                            <a:srgbClr val="1A2421"/>
                          </a:solidFill>
                          <a:latin typeface="Calibri"/>
                        </a:rPr>
                        <a:t>cardboard</a:t>
                      </a:r>
                    </a:p>
                  </a:txBody>
                  <a:tcPr/>
                </a:tc>
                <a:tc>
                  <a:txBody>
                    <a:bodyPr wrap="square"/>
                    <a:lstStyle/>
                    <a:p>
                      <a:r>
                        <a:rPr sz="1500" b="0">
                          <a:solidFill>
                            <a:srgbClr val="1A2421"/>
                          </a:solidFill>
                          <a:latin typeface="Calibri"/>
                        </a:rPr>
                        <a:t>96.49%</a:t>
                      </a:r>
                    </a:p>
                  </a:txBody>
                  <a:tcPr/>
                </a:tc>
                <a:tc>
                  <a:txBody>
                    <a:bodyPr wrap="square"/>
                    <a:lstStyle/>
                    <a:p>
                      <a:r>
                        <a:rPr sz="1500" b="0">
                          <a:solidFill>
                            <a:srgbClr val="1A2421"/>
                          </a:solidFill>
                          <a:latin typeface="Calibri"/>
                        </a:rPr>
                        <a:t>91.67%</a:t>
                      </a:r>
                    </a:p>
                  </a:txBody>
                  <a:tcPr/>
                </a:tc>
                <a:tc>
                  <a:txBody>
                    <a:bodyPr wrap="square"/>
                    <a:lstStyle/>
                    <a:p>
                      <a:r>
                        <a:rPr sz="1500" b="0">
                          <a:solidFill>
                            <a:srgbClr val="1A2421"/>
                          </a:solidFill>
                          <a:latin typeface="Calibri"/>
                        </a:rPr>
                        <a:t>94.02%</a:t>
                      </a:r>
                    </a:p>
                  </a:txBody>
                  <a:tcPr/>
                </a:tc>
                <a:tc>
                  <a:txBody>
                    <a:bodyPr wrap="square"/>
                    <a:lstStyle/>
                    <a:p>
                      <a:r>
                        <a:rPr sz="1500" b="0">
                          <a:solidFill>
                            <a:srgbClr val="1A2421"/>
                          </a:solidFill>
                          <a:latin typeface="Calibri"/>
                        </a:rPr>
                        <a:t>60</a:t>
                      </a:r>
                    </a:p>
                  </a:txBody>
                  <a:tcPr/>
                </a:tc>
              </a:tr>
              <a:tr h="600891">
                <a:tc>
                  <a:txBody>
                    <a:bodyPr wrap="square"/>
                    <a:lstStyle/>
                    <a:p>
                      <a:r>
                        <a:rPr sz="1500" b="1">
                          <a:solidFill>
                            <a:srgbClr val="1A2421"/>
                          </a:solidFill>
                          <a:latin typeface="Calibri"/>
                        </a:rPr>
                        <a:t>glass</a:t>
                      </a:r>
                    </a:p>
                  </a:txBody>
                  <a:tcPr/>
                </a:tc>
                <a:tc>
                  <a:txBody>
                    <a:bodyPr wrap="square"/>
                    <a:lstStyle/>
                    <a:p>
                      <a:r>
                        <a:rPr sz="1500" b="0">
                          <a:solidFill>
                            <a:srgbClr val="1A2421"/>
                          </a:solidFill>
                          <a:latin typeface="Calibri"/>
                        </a:rPr>
                        <a:t>93.85%</a:t>
                      </a:r>
                    </a:p>
                  </a:txBody>
                  <a:tcPr/>
                </a:tc>
                <a:tc>
                  <a:txBody>
                    <a:bodyPr wrap="square"/>
                    <a:lstStyle/>
                    <a:p>
                      <a:r>
                        <a:rPr sz="1500" b="0">
                          <a:solidFill>
                            <a:srgbClr val="1A2421"/>
                          </a:solidFill>
                          <a:latin typeface="Calibri"/>
                        </a:rPr>
                        <a:t>80.26%</a:t>
                      </a:r>
                    </a:p>
                  </a:txBody>
                  <a:tcPr/>
                </a:tc>
                <a:tc>
                  <a:txBody>
                    <a:bodyPr wrap="square"/>
                    <a:lstStyle/>
                    <a:p>
                      <a:r>
                        <a:rPr sz="1500" b="0">
                          <a:solidFill>
                            <a:srgbClr val="1A2421"/>
                          </a:solidFill>
                          <a:latin typeface="Calibri"/>
                        </a:rPr>
                        <a:t>86.52%</a:t>
                      </a:r>
                    </a:p>
                  </a:txBody>
                  <a:tcPr/>
                </a:tc>
                <a:tc>
                  <a:txBody>
                    <a:bodyPr wrap="square"/>
                    <a:lstStyle/>
                    <a:p>
                      <a:r>
                        <a:rPr sz="1500" b="0">
                          <a:solidFill>
                            <a:srgbClr val="1A2421"/>
                          </a:solidFill>
                          <a:latin typeface="Calibri"/>
                        </a:rPr>
                        <a:t>76</a:t>
                      </a:r>
                    </a:p>
                  </a:txBody>
                  <a:tcPr/>
                </a:tc>
              </a:tr>
              <a:tr h="600891">
                <a:tc>
                  <a:txBody>
                    <a:bodyPr wrap="square"/>
                    <a:lstStyle/>
                    <a:p>
                      <a:r>
                        <a:rPr sz="1500" b="1">
                          <a:solidFill>
                            <a:srgbClr val="1A2421"/>
                          </a:solidFill>
                          <a:latin typeface="Calibri"/>
                        </a:rPr>
                        <a:t>metal</a:t>
                      </a:r>
                    </a:p>
                  </a:txBody>
                  <a:tcPr/>
                </a:tc>
                <a:tc>
                  <a:txBody>
                    <a:bodyPr wrap="square"/>
                    <a:lstStyle/>
                    <a:p>
                      <a:r>
                        <a:rPr sz="1500" b="0">
                          <a:solidFill>
                            <a:srgbClr val="1A2421"/>
                          </a:solidFill>
                          <a:latin typeface="Calibri"/>
                        </a:rPr>
                        <a:t>80.82%</a:t>
                      </a:r>
                    </a:p>
                  </a:txBody>
                  <a:tcPr/>
                </a:tc>
                <a:tc>
                  <a:txBody>
                    <a:bodyPr wrap="square"/>
                    <a:lstStyle/>
                    <a:p>
                      <a:r>
                        <a:rPr sz="1500" b="0">
                          <a:solidFill>
                            <a:srgbClr val="1A2421"/>
                          </a:solidFill>
                          <a:latin typeface="Calibri"/>
                        </a:rPr>
                        <a:t>95.16%</a:t>
                      </a:r>
                    </a:p>
                  </a:txBody>
                  <a:tcPr/>
                </a:tc>
                <a:tc>
                  <a:txBody>
                    <a:bodyPr wrap="square"/>
                    <a:lstStyle/>
                    <a:p>
                      <a:r>
                        <a:rPr sz="1500" b="0">
                          <a:solidFill>
                            <a:srgbClr val="1A2421"/>
                          </a:solidFill>
                          <a:latin typeface="Calibri"/>
                        </a:rPr>
                        <a:t>87.41%</a:t>
                      </a:r>
                    </a:p>
                  </a:txBody>
                  <a:tcPr/>
                </a:tc>
                <a:tc>
                  <a:txBody>
                    <a:bodyPr wrap="square"/>
                    <a:lstStyle/>
                    <a:p>
                      <a:r>
                        <a:rPr sz="1500" b="0">
                          <a:solidFill>
                            <a:srgbClr val="1A2421"/>
                          </a:solidFill>
                          <a:latin typeface="Calibri"/>
                        </a:rPr>
                        <a:t>62</a:t>
                      </a:r>
                    </a:p>
                  </a:txBody>
                  <a:tcPr/>
                </a:tc>
              </a:tr>
              <a:tr h="600891">
                <a:tc>
                  <a:txBody>
                    <a:bodyPr wrap="square"/>
                    <a:lstStyle/>
                    <a:p>
                      <a:r>
                        <a:rPr sz="1500" b="1">
                          <a:solidFill>
                            <a:srgbClr val="1A2421"/>
                          </a:solidFill>
                          <a:latin typeface="Calibri"/>
                        </a:rPr>
                        <a:t>paper</a:t>
                      </a:r>
                    </a:p>
                  </a:txBody>
                  <a:tcPr/>
                </a:tc>
                <a:tc>
                  <a:txBody>
                    <a:bodyPr wrap="square"/>
                    <a:lstStyle/>
                    <a:p>
                      <a:r>
                        <a:rPr sz="1500" b="0">
                          <a:solidFill>
                            <a:srgbClr val="1A2421"/>
                          </a:solidFill>
                          <a:latin typeface="Calibri"/>
                        </a:rPr>
                        <a:t>92.94%</a:t>
                      </a:r>
                    </a:p>
                  </a:txBody>
                  <a:tcPr/>
                </a:tc>
                <a:tc>
                  <a:txBody>
                    <a:bodyPr wrap="square"/>
                    <a:lstStyle/>
                    <a:p>
                      <a:r>
                        <a:rPr sz="1500" b="0">
                          <a:solidFill>
                            <a:srgbClr val="1A2421"/>
                          </a:solidFill>
                          <a:latin typeface="Calibri"/>
                        </a:rPr>
                        <a:t>88.76%</a:t>
                      </a:r>
                    </a:p>
                  </a:txBody>
                  <a:tcPr/>
                </a:tc>
                <a:tc>
                  <a:txBody>
                    <a:bodyPr wrap="square"/>
                    <a:lstStyle/>
                    <a:p>
                      <a:r>
                        <a:rPr sz="1500" b="0">
                          <a:solidFill>
                            <a:srgbClr val="1A2421"/>
                          </a:solidFill>
                          <a:latin typeface="Calibri"/>
                        </a:rPr>
                        <a:t>90.80%</a:t>
                      </a:r>
                    </a:p>
                  </a:txBody>
                  <a:tcPr/>
                </a:tc>
                <a:tc>
                  <a:txBody>
                    <a:bodyPr wrap="square"/>
                    <a:lstStyle/>
                    <a:p>
                      <a:r>
                        <a:rPr sz="1500" b="0">
                          <a:solidFill>
                            <a:srgbClr val="1A2421"/>
                          </a:solidFill>
                          <a:latin typeface="Calibri"/>
                        </a:rPr>
                        <a:t>89</a:t>
                      </a:r>
                    </a:p>
                  </a:txBody>
                  <a:tcPr/>
                </a:tc>
              </a:tr>
              <a:tr h="600891">
                <a:tc>
                  <a:txBody>
                    <a:bodyPr wrap="square"/>
                    <a:lstStyle/>
                    <a:p>
                      <a:r>
                        <a:rPr sz="1500" b="1">
                          <a:solidFill>
                            <a:srgbClr val="1A2421"/>
                          </a:solidFill>
                          <a:latin typeface="Calibri"/>
                        </a:rPr>
                        <a:t>plastic</a:t>
                      </a:r>
                    </a:p>
                  </a:txBody>
                  <a:tcPr/>
                </a:tc>
                <a:tc>
                  <a:txBody>
                    <a:bodyPr wrap="square"/>
                    <a:lstStyle/>
                    <a:p>
                      <a:r>
                        <a:rPr sz="1500" b="0">
                          <a:solidFill>
                            <a:srgbClr val="1A2421"/>
                          </a:solidFill>
                          <a:latin typeface="Calibri"/>
                        </a:rPr>
                        <a:t>79.76%</a:t>
                      </a:r>
                    </a:p>
                  </a:txBody>
                  <a:tcPr/>
                </a:tc>
                <a:tc>
                  <a:txBody>
                    <a:bodyPr wrap="square"/>
                    <a:lstStyle/>
                    <a:p>
                      <a:r>
                        <a:rPr sz="1500" b="0">
                          <a:solidFill>
                            <a:srgbClr val="1A2421"/>
                          </a:solidFill>
                          <a:latin typeface="Calibri"/>
                        </a:rPr>
                        <a:t>91.78%</a:t>
                      </a:r>
                    </a:p>
                  </a:txBody>
                  <a:tcPr/>
                </a:tc>
                <a:tc>
                  <a:txBody>
                    <a:bodyPr wrap="square"/>
                    <a:lstStyle/>
                    <a:p>
                      <a:r>
                        <a:rPr sz="1500" b="0">
                          <a:solidFill>
                            <a:srgbClr val="1A2421"/>
                          </a:solidFill>
                          <a:latin typeface="Calibri"/>
                        </a:rPr>
                        <a:t>85.35%</a:t>
                      </a:r>
                    </a:p>
                  </a:txBody>
                  <a:tcPr/>
                </a:tc>
                <a:tc>
                  <a:txBody>
                    <a:bodyPr wrap="square"/>
                    <a:lstStyle/>
                    <a:p>
                      <a:r>
                        <a:rPr sz="1500" b="0">
                          <a:solidFill>
                            <a:srgbClr val="1A2421"/>
                          </a:solidFill>
                          <a:latin typeface="Calibri"/>
                        </a:rPr>
                        <a:t>73</a:t>
                      </a:r>
                    </a:p>
                  </a:txBody>
                  <a:tcPr/>
                </a:tc>
              </a:tr>
              <a:tr h="600894">
                <a:tc>
                  <a:txBody>
                    <a:bodyPr wrap="square"/>
                    <a:lstStyle/>
                    <a:p>
                      <a:r>
                        <a:rPr sz="1500" b="1">
                          <a:solidFill>
                            <a:srgbClr val="1A2421"/>
                          </a:solidFill>
                          <a:latin typeface="Calibri"/>
                        </a:rPr>
                        <a:t>trash</a:t>
                      </a:r>
                    </a:p>
                  </a:txBody>
                  <a:tcPr/>
                </a:tc>
                <a:tc>
                  <a:txBody>
                    <a:bodyPr wrap="square"/>
                    <a:lstStyle/>
                    <a:p>
                      <a:r>
                        <a:rPr sz="1500" b="0">
                          <a:solidFill>
                            <a:srgbClr val="1A2421"/>
                          </a:solidFill>
                          <a:latin typeface="Calibri"/>
                        </a:rPr>
                        <a:t>100.00%</a:t>
                      </a:r>
                    </a:p>
                  </a:txBody>
                  <a:tcPr/>
                </a:tc>
                <a:tc>
                  <a:txBody>
                    <a:bodyPr wrap="square"/>
                    <a:lstStyle/>
                    <a:p>
                      <a:r>
                        <a:rPr sz="1500" b="0">
                          <a:solidFill>
                            <a:srgbClr val="1A2421"/>
                          </a:solidFill>
                          <a:latin typeface="Calibri"/>
                        </a:rPr>
                        <a:t>80.00%</a:t>
                      </a:r>
                    </a:p>
                  </a:txBody>
                  <a:tcPr/>
                </a:tc>
                <a:tc>
                  <a:txBody>
                    <a:bodyPr wrap="square"/>
                    <a:lstStyle/>
                    <a:p>
                      <a:r>
                        <a:rPr sz="1500" b="0">
                          <a:solidFill>
                            <a:srgbClr val="1A2421"/>
                          </a:solidFill>
                          <a:latin typeface="Calibri"/>
                        </a:rPr>
                        <a:t>88.89%</a:t>
                      </a:r>
                    </a:p>
                  </a:txBody>
                  <a:tcPr/>
                </a:tc>
                <a:tc>
                  <a:txBody>
                    <a:bodyPr wrap="square"/>
                    <a:lstStyle/>
                    <a:p>
                      <a:r>
                        <a:rPr sz="1500" b="0">
                          <a:solidFill>
                            <a:srgbClr val="1A2421"/>
                          </a:solidFill>
                          <a:latin typeface="Calibri"/>
                        </a:rPr>
                        <a:t>20</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640080"/>
          </a:xfrm>
          <a:prstGeom prst="rect">
            <a:avLst/>
          </a:prstGeom>
          <a:noFill/>
        </p:spPr>
        <p:txBody>
          <a:bodyPr wrap="square">
            <a:spAutoFit/>
          </a:bodyPr>
          <a:lstStyle/>
          <a:p>
            <a:pPr algn="l"/>
            <a:r>
              <a:rPr sz="3200" b="1">
                <a:solidFill>
                  <a:srgbClr val="1F4D3A"/>
                </a:solidFill>
                <a:latin typeface="Calibri"/>
              </a:rPr>
              <a:t>Learning curves</a:t>
            </a:r>
          </a:p>
        </p:txBody>
      </p:sp>
      <p:pic>
        <p:nvPicPr>
          <p:cNvPr id="4" name="Picture 3" descr="training_curves.png"/>
          <p:cNvPicPr>
            <a:picLocks noChangeAspect="1"/>
          </p:cNvPicPr>
          <p:nvPr/>
        </p:nvPicPr>
        <p:blipFill>
          <a:blip r:embed="rId3"/>
          <a:stretch>
            <a:fillRect/>
          </a:stretch>
        </p:blipFill>
        <p:spPr>
          <a:xfrm>
            <a:off x="1280160" y="1280160"/>
            <a:ext cx="9509760" cy="380390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640080"/>
          </a:xfrm>
          <a:prstGeom prst="rect">
            <a:avLst/>
          </a:prstGeom>
          <a:noFill/>
        </p:spPr>
        <p:txBody>
          <a:bodyPr wrap="square">
            <a:spAutoFit/>
          </a:bodyPr>
          <a:lstStyle/>
          <a:p>
            <a:pPr algn="l"/>
            <a:r>
              <a:rPr sz="3200" b="1">
                <a:solidFill>
                  <a:srgbClr val="1F4D3A"/>
                </a:solidFill>
                <a:latin typeface="Calibri"/>
              </a:rPr>
              <a:t>Where the errors go</a:t>
            </a:r>
          </a:p>
        </p:txBody>
      </p:sp>
      <p:pic>
        <p:nvPicPr>
          <p:cNvPr id="4" name="Picture 3" descr="confusion_matrix.png"/>
          <p:cNvPicPr>
            <a:picLocks noChangeAspect="1"/>
          </p:cNvPicPr>
          <p:nvPr/>
        </p:nvPicPr>
        <p:blipFill>
          <a:blip r:embed="rId3"/>
          <a:stretch>
            <a:fillRect/>
          </a:stretch>
        </p:blipFill>
        <p:spPr>
          <a:xfrm>
            <a:off x="457200" y="1234440"/>
            <a:ext cx="5669280" cy="4859383"/>
          </a:xfrm>
          <a:prstGeom prst="rect">
            <a:avLst/>
          </a:prstGeom>
        </p:spPr>
      </p:pic>
      <p:sp>
        <p:nvSpPr>
          <p:cNvPr id="5" name="TextBox 4"/>
          <p:cNvSpPr txBox="1"/>
          <p:nvPr/>
        </p:nvSpPr>
        <p:spPr>
          <a:xfrm>
            <a:off x="6309360" y="1828800"/>
            <a:ext cx="5303520" cy="3200400"/>
          </a:xfrm>
          <a:prstGeom prst="rect">
            <a:avLst/>
          </a:prstGeom>
          <a:noFill/>
        </p:spPr>
        <p:txBody>
          <a:bodyPr wrap="square">
            <a:spAutoFit/>
          </a:bodyPr>
          <a:lstStyle/>
          <a:p>
            <a:pPr algn="l"/>
            <a:r>
              <a:rPr sz="2000" b="0">
                <a:solidFill>
                  <a:srgbClr val="1A2421"/>
                </a:solidFill>
                <a:latin typeface="Calibri"/>
              </a:rPr>
              <a:t>The largest confusions were 12 glass images predicted as plastic; 6 paper images predicted as metal; 3 cardboard images predicted as paper.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640080"/>
          </a:xfrm>
          <a:prstGeom prst="rect">
            <a:avLst/>
          </a:prstGeom>
          <a:noFill/>
        </p:spPr>
        <p:txBody>
          <a:bodyPr wrap="square">
            <a:spAutoFit/>
          </a:bodyPr>
          <a:lstStyle/>
          <a:p>
            <a:pPr algn="l"/>
            <a:r>
              <a:rPr sz="3200" b="1">
                <a:solidFill>
                  <a:srgbClr val="1F4D3A"/>
                </a:solidFill>
                <a:latin typeface="Calibri"/>
              </a:rPr>
              <a:t>What an evaluator can download</a:t>
            </a:r>
          </a:p>
        </p:txBody>
      </p:sp>
      <p:sp>
        <p:nvSpPr>
          <p:cNvPr id="4" name="TextBox 3"/>
          <p:cNvSpPr txBox="1"/>
          <p:nvPr/>
        </p:nvSpPr>
        <p:spPr>
          <a:xfrm>
            <a:off x="548640" y="1371600"/>
            <a:ext cx="10972800" cy="4572000"/>
          </a:xfrm>
          <a:prstGeom prst="rect">
            <a:avLst/>
          </a:prstGeom>
          <a:noFill/>
        </p:spPr>
        <p:txBody>
          <a:bodyPr wrap="square">
            <a:spAutoFit/>
          </a:bodyPr>
          <a:lstStyle/>
          <a:p>
            <a:pPr algn="l">
              <a:spcAft>
                <a:spcPts val="1000"/>
              </a:spcAft>
            </a:pPr>
            <a:r>
              <a:rPr sz="2200" b="0">
                <a:solidFill>
                  <a:srgbClr val="1A2421"/>
                </a:solidFill>
                <a:latin typeface="Calibri"/>
              </a:rPr>
              <a:t>•  weights/model.pth — load state_dict with build_model() from model.py.</a:t>
            </a:r>
          </a:p>
          <a:p>
            <a:pPr algn="l">
              <a:spcAft>
                <a:spcPts val="1000"/>
              </a:spcAft>
            </a:pPr>
            <a:r>
              <a:rPr sz="2200" b="0">
                <a:solidFill>
                  <a:srgbClr val="1A2421"/>
                </a:solidFill>
                <a:latin typeface="Calibri"/>
              </a:rPr>
              <a:t>•  weights/model.onnx — the file the Vercel page runs in the browser.</a:t>
            </a:r>
          </a:p>
          <a:p>
            <a:pPr algn="l">
              <a:spcAft>
                <a:spcPts val="1000"/>
              </a:spcAft>
            </a:pPr>
            <a:r>
              <a:rPr sz="2200" b="0">
                <a:solidFill>
                  <a:srgbClr val="1A2421"/>
                </a:solidFill>
                <a:latin typeface="Calibri"/>
              </a:rPr>
              <a:t>•  predict.py --image &lt;path&gt; prints JSON with the class and six probabilities.</a:t>
            </a:r>
          </a:p>
          <a:p>
            <a:pPr algn="l">
              <a:spcAft>
                <a:spcPts val="1000"/>
              </a:spcAft>
            </a:pPr>
            <a:r>
              <a:rPr sz="2200" b="0">
                <a:solidFill>
                  <a:srgbClr val="1A2421"/>
                </a:solidFill>
                <a:latin typeface="Calibri"/>
              </a:rPr>
              <a:t>•  Class order is cardboard, glass, metal, paper, plastic, trash.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640080"/>
          </a:xfrm>
          <a:prstGeom prst="rect">
            <a:avLst/>
          </a:prstGeom>
          <a:noFill/>
        </p:spPr>
        <p:txBody>
          <a:bodyPr wrap="square">
            <a:spAutoFit/>
          </a:bodyPr>
          <a:lstStyle/>
          <a:p>
            <a:pPr algn="l"/>
            <a:r>
              <a:rPr sz="3200" b="1">
                <a:solidFill>
                  <a:srgbClr val="1F4D3A"/>
                </a:solidFill>
                <a:latin typeface="Calibri"/>
              </a:rPr>
              <a:t>What this model should not be asked to do</a:t>
            </a:r>
          </a:p>
        </p:txBody>
      </p:sp>
      <p:sp>
        <p:nvSpPr>
          <p:cNvPr id="4" name="TextBox 3"/>
          <p:cNvSpPr txBox="1"/>
          <p:nvPr/>
        </p:nvSpPr>
        <p:spPr>
          <a:xfrm>
            <a:off x="548640" y="1371600"/>
            <a:ext cx="10972800" cy="4572000"/>
          </a:xfrm>
          <a:prstGeom prst="rect">
            <a:avLst/>
          </a:prstGeom>
          <a:noFill/>
        </p:spPr>
        <p:txBody>
          <a:bodyPr wrap="square">
            <a:spAutoFit/>
          </a:bodyPr>
          <a:lstStyle/>
          <a:p>
            <a:pPr algn="l">
              <a:spcAft>
                <a:spcPts val="1000"/>
              </a:spcAft>
            </a:pPr>
            <a:r>
              <a:rPr sz="2200" b="0">
                <a:solidFill>
                  <a:srgbClr val="1A2421"/>
                </a:solidFill>
                <a:latin typeface="Calibri"/>
              </a:rPr>
              <a:t>•  TrashNet backgrounds are plain. A real bin is a different problem.</a:t>
            </a:r>
          </a:p>
          <a:p>
            <a:pPr algn="l">
              <a:spcAft>
                <a:spcPts val="1000"/>
              </a:spcAft>
            </a:pPr>
            <a:r>
              <a:rPr sz="2200" b="0">
                <a:solidFill>
                  <a:srgbClr val="1A2421"/>
                </a:solidFill>
                <a:latin typeface="Calibri"/>
              </a:rPr>
              <a:t>•  Glass, plastic, and metal reflect light, so they trade errors.</a:t>
            </a:r>
          </a:p>
          <a:p>
            <a:pPr algn="l">
              <a:spcAft>
                <a:spcPts val="1000"/>
              </a:spcAft>
            </a:pPr>
            <a:r>
              <a:rPr sz="2200" b="0">
                <a:solidFill>
                  <a:srgbClr val="1A2421"/>
                </a:solidFill>
                <a:latin typeface="Calibri"/>
              </a:rPr>
              <a:t>•  Trash has only 137 images in the whole dataset.</a:t>
            </a:r>
          </a:p>
          <a:p>
            <a:pPr algn="l">
              <a:spcAft>
                <a:spcPts val="1000"/>
              </a:spcAft>
            </a:pPr>
            <a:r>
              <a:rPr sz="2200" b="0">
                <a:solidFill>
                  <a:srgbClr val="1A2421"/>
                </a:solidFill>
                <a:latin typeface="Calibri"/>
              </a:rPr>
              <a:t>•  Do not use the demo to decide whether waste is hazardous.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EFE6"/>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F4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1247120" cy="640080"/>
          </a:xfrm>
          <a:prstGeom prst="rect">
            <a:avLst/>
          </a:prstGeom>
          <a:noFill/>
        </p:spPr>
        <p:txBody>
          <a:bodyPr wrap="square">
            <a:spAutoFit/>
          </a:bodyPr>
          <a:lstStyle/>
          <a:p>
            <a:pPr algn="l"/>
            <a:r>
              <a:rPr sz="3200" b="1">
                <a:solidFill>
                  <a:srgbClr val="1F4D3A"/>
                </a:solidFill>
                <a:latin typeface="Calibri"/>
              </a:rPr>
              <a:t>Links and closing</a:t>
            </a:r>
          </a:p>
        </p:txBody>
      </p:sp>
      <p:sp>
        <p:nvSpPr>
          <p:cNvPr id="4" name="TextBox 3"/>
          <p:cNvSpPr txBox="1"/>
          <p:nvPr/>
        </p:nvSpPr>
        <p:spPr>
          <a:xfrm>
            <a:off x="548640" y="1325880"/>
            <a:ext cx="10972800" cy="4572000"/>
          </a:xfrm>
          <a:prstGeom prst="rect">
            <a:avLst/>
          </a:prstGeom>
          <a:noFill/>
        </p:spPr>
        <p:txBody>
          <a:bodyPr wrap="square">
            <a:spAutoFit/>
          </a:bodyPr>
          <a:lstStyle/>
          <a:p>
            <a:pPr algn="l">
              <a:spcAft>
                <a:spcPts val="1000"/>
              </a:spcAft>
            </a:pPr>
            <a:r>
              <a:rPr sz="2000" b="0">
                <a:solidFill>
                  <a:srgbClr val="1A2421"/>
                </a:solidFill>
                <a:latin typeface="Calibri"/>
              </a:rPr>
              <a:t>•  Dataset: github.com/garythung/trashnet</a:t>
            </a:r>
          </a:p>
          <a:p>
            <a:pPr algn="l">
              <a:spcAft>
                <a:spcPts val="1000"/>
              </a:spcAft>
            </a:pPr>
            <a:r>
              <a:rPr sz="2000" b="0">
                <a:solidFill>
                  <a:srgbClr val="1A2421"/>
                </a:solidFill>
                <a:latin typeface="Calibri"/>
              </a:rPr>
              <a:t>•  GitHub: [GitHub URL — add this before submission]</a:t>
            </a:r>
          </a:p>
          <a:p>
            <a:pPr algn="l">
              <a:spcAft>
                <a:spcPts val="1000"/>
              </a:spcAft>
            </a:pPr>
            <a:r>
              <a:rPr sz="2000" b="0">
                <a:solidFill>
                  <a:srgbClr val="1A2421"/>
                </a:solidFill>
                <a:latin typeface="Calibri"/>
              </a:rPr>
              <a:t>•  Vercel: [Vercel URL — add this before submission]</a:t>
            </a:r>
          </a:p>
          <a:p>
            <a:pPr algn="l">
              <a:spcAft>
                <a:spcPts val="1000"/>
              </a:spcAft>
            </a:pPr>
            <a:r>
              <a:rPr sz="2000" b="0">
                <a:solidFill>
                  <a:srgbClr val="1A2421"/>
                </a:solidFill>
                <a:latin typeface="Calibri"/>
              </a:rPr>
              <a:t>•  YouTube: [YouTube URL — add this before submission]</a:t>
            </a:r>
          </a:p>
          <a:p>
            <a:pPr algn="l">
              <a:spcAft>
                <a:spcPts val="1000"/>
              </a:spcAft>
            </a:pPr>
            <a:r>
              <a:rPr sz="2000" b="0">
                <a:solidFill>
                  <a:srgbClr val="1A2421"/>
                </a:solidFill>
                <a:latin typeface="Calibri"/>
              </a:rPr>
              <a:t>•  LinkedIn: [LinkedIn URL — add this before submission]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Waste Image Classification using Transfer Learning</dc:title>
  <dc:subject/>
  <dc:creator>Student Name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